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95d41aa-0e7e-c3e0-2c35-c94f238be1bd}">
          <p14:sldIdLst>
            <p14:sldId id="256"/>
          </p14:sldIdLst>
        </p14:section>
        <p14:section name="Problem" id="{f589f37a-002f-31ba-2c01-992bb0c100e9}">
          <p14:sldIdLst>
            <p14:sldId id="257"/>
          </p14:sldIdLst>
        </p14:section>
        <p14:section name="Literature" id="{e09fd8fa-6825-1011-1790-4ccebea5b3cf}">
          <p14:sldIdLst>
            <p14:sldId id="258"/>
            <p14:sldId id="259"/>
          </p14:sldIdLst>
        </p14:section>
        <p14:section name="Gap" id="{332eae49-5a57-94d3-52f6-ea4a4b4db122}">
          <p14:sldIdLst>
            <p14:sldId id="260"/>
          </p14:sldIdLst>
        </p14:section>
        <p14:section name="Objectives" id="{7139bb58-55bf-3972-6266-d23d91ed6165}">
          <p14:sldIdLst>
            <p14:sldId id="261"/>
          </p14:sldIdLst>
        </p14:section>
        <p14:section name="Method" id="{1f6d95f9-09d3-ba7e-3200-e29eae0fd608}">
          <p14:sldIdLst>
            <p14:sldId id="262"/>
            <p14:sldId id="263"/>
          </p14:sldIdLst>
        </p14:section>
        <p14:section name="Results" id="{0445d826-86cc-08be-e71a-55d1b30cc902}">
          <p14:sldIdLst>
            <p14:sldId id="264"/>
          </p14:sldIdLst>
        </p14:section>
        <p14:section name="Status" id="{cf1abdf2-7f91-aae0-7a43-cf37ae6547e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Sagar Setu means 'bridge to the sea'. One sentence: it lets a fisherman ask, in his own language, whether it is safe to go out — and it answers from official government data, with the safety decision made by fixed rules, not by the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exists. The gap is the last two hundred metres — between a government web portal and a man on a beach at four in the morning with a cheap Android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to stress: India's data is excellent. We are not fixing the data. We are fixing the interface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she asks why not just prompt the model to be careful: because the literature says prompting is not a guarantee, and we are making a safety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research gap. Read down the last row. Six specific gaps are enumerated in the synopsis: fragmentation, interaction mode, language depth, verifiability, structural safety separation, and evaluation at the level of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O2 and O3 are the research contribution. The rest is good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figure. Blue is AI, red is no AI. The red dashed line is the design constraint: below it there is no model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caveat she may probe: these thresholds are starting values, not yet calibrated to an official published document. We say so rather than implying authority we do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professor asked for after the last review: a number for how often we are right. Note the asymmetry — misses fall to CAUTION, never GO, which is what the worst-of rule is designed to produce. And state the limitation before she finds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asks. These are not excuses — each one is a specific thing the department can help with that measurably improves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6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2084832"/>
            <a:ext cx="11057839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3401568"/>
            <a:ext cx="8778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BDD2E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900" dirty="0">
                <a:solidFill>
                  <a:srgbClr val="BDD2E2"/>
                </a:solidFill>
              </a:rPr>
              <a:t> </a:t>
            </a: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 </a:t>
            </a: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566928" y="636422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Sagar Setu  ·  Mid-term review  ·  13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rgbClr val="16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 </a:t>
            </a: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2084832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spc="300" kern="0" dirty="0">
                <a:solidFill>
                  <a:schemeClr val="bg1"/>
                </a:solidFill>
              </a:rPr>
              <a:t>SAGAR SETU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66928" y="3401568"/>
            <a:ext cx="8778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BDD2E2"/>
                </a:solidFill>
              </a:rPr>
              <a:t>An agentic, evidence-grounded marine advisory system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BDD2E2"/>
                </a:solidFill>
              </a:rPr>
              <a:t>for Indian small-craft fishermen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4846320"/>
            <a:ext cx="393192" cy="365760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84632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124712" y="4846320"/>
            <a:ext cx="873252" cy="365760"/>
          </a:xfrm>
          <a:prstGeom prst="roundRect">
            <a:avLst>
              <a:gd name="adj" fmla="val 50000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4846320"/>
            <a:ext cx="8732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CAUTION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62556" y="4846320"/>
            <a:ext cx="12573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62556" y="4846320"/>
            <a:ext cx="1257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 NOT SAIL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D2E2"/>
                </a:solidFill>
              </a:rPr>
              <a:t>Harshvardhan Singh   ·   Supervisor: Ms. Anusha Chhabra   ·   13 October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18134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9AB3"/>
                </a:solidFill>
              </a:rPr>
              <a:t>ISRO / INCOIS agentic marine intelligence problem statement  ·  Smart India Hackathon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decision, made in the dark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9844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3A4A58"/>
                </a:solidFill>
              </a:rPr>
              <a:t>A small-craft fisherman makes one decision a day, before dawn, before the boat leaves: go, or stay. Wrong in one direction it costs a day's income. Wrong in the other it can cost the boat and the crew.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697480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670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2E"/>
                </a:solidFill>
              </a:rPr>
              <a:t>Is it safe?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9626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4A58"/>
                </a:solidFill>
              </a:rPr>
              <a:t>Waves, wind, lightning, cyclone — against this boat's size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666744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42416" y="3639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2E"/>
                </a:solidFill>
              </a:rPr>
              <a:t>Where are the fish?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3931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4A58"/>
                </a:solidFill>
              </a:rPr>
              <a:t>A full hold, or a wasted tank of diesel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6008"/>
            <a:ext cx="310896" cy="310896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4636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4608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2E"/>
                </a:solidFill>
              </a:rPr>
              <a:t>Where is the border?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49011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3A4A58"/>
                </a:solidFill>
              </a:rPr>
              <a:t>Detention by the Sri Lankan Navy is an annual event in the Palk Bay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03720" y="1298448"/>
            <a:ext cx="4718304" cy="1463040"/>
          </a:xfrm>
          <a:prstGeom prst="roundRect">
            <a:avLst>
              <a:gd name="adj" fmla="val 562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78040" y="144475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million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1945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people depend on marine fishing in India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903720" y="2944368"/>
            <a:ext cx="4718304" cy="1463040"/>
          </a:xfrm>
          <a:prstGeom prst="roundRect">
            <a:avLst>
              <a:gd name="adj" fmla="val 562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30906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38404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separate government products hold the answers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903720" y="4590288"/>
            <a:ext cx="4718304" cy="1463040"/>
          </a:xfrm>
          <a:prstGeom prst="roundRect">
            <a:avLst>
              <a:gd name="adj" fmla="val 562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8040" y="473659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5486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of them accept a question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India already publishes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3511296" cy="3675888"/>
          </a:xfrm>
          <a:prstGeom prst="roundRect">
            <a:avLst>
              <a:gd name="adj" fmla="val 23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84832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E2E"/>
                </a:solidFill>
              </a:rPr>
              <a:t>INCOIS Ocean State Forecast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79776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F1E2E"/>
                </a:solidFill>
              </a:rPr>
              <a:t>Waves, wind, currents, SST for the Indian Ocean.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328416"/>
            <a:ext cx="29626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Validated against buoys, ship-borne wave meters and altimeters — scatter index below 15 %.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517136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</a:rPr>
              <a:t>Nair et al., 2013 [1]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2544" y="1298448"/>
            <a:ext cx="3511296" cy="3675888"/>
          </a:xfrm>
          <a:prstGeom prst="roundRect">
            <a:avLst>
              <a:gd name="adj" fmla="val 23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6864" y="155448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2084832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E2E"/>
                </a:solidFill>
              </a:rPr>
              <a:t>INCOIS Small Vessel Advisory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779776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F1E2E"/>
                </a:solidFill>
              </a:rPr>
              <a:t>Boat-specific capsizing risk, ten days ahead.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3328416"/>
            <a:ext cx="29626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Boat Safety Index from wave height, steepness, directional spread; beam classes &lt; 4 / 6 / 7 m.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626864" y="4517136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</a:rPr>
              <a:t>INCOIS SVAS [2]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298448"/>
            <a:ext cx="3511296" cy="3675888"/>
          </a:xfrm>
          <a:prstGeom prst="roundRect">
            <a:avLst>
              <a:gd name="adj" fmla="val 23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1554480"/>
            <a:ext cx="384048" cy="384048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084832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E2E"/>
                </a:solidFill>
              </a:rPr>
              <a:t>INCOIS Potential Fishing Zone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779776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F1E2E"/>
                </a:solidFill>
              </a:rPr>
              <a:t>Satellite-derived fishing advisories, 12 sectors.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3328416"/>
            <a:ext cx="29626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Catch per unit effort and profit measurably higher inside notified zones.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4517136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</a:rPr>
              <a:t>Pillai &amp; Nair, 2010 [4]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30368"/>
            <a:ext cx="11057839" cy="713232"/>
          </a:xfrm>
          <a:prstGeom prst="roundRect">
            <a:avLst>
              <a:gd name="adj" fmla="val 11538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9536" y="5230368"/>
            <a:ext cx="1047262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All three are maps and bulletins. </a:t>
            </a:r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</a:rPr>
              <a:t>None of them answers a question</a:t>
            </a:r>
            <a:pPr indent="0" marL="0">
              <a:buNone/>
            </a:pPr>
            <a:r>
              <a:rPr lang="en-US" sz="1500" dirty="0">
                <a:solidFill>
                  <a:srgbClr val="C0392B"/>
                </a:solidFill>
              </a:rPr>
              <a:t> — and none of them knows about the other two.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AI literature says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5376672" cy="3520440"/>
          </a:xfrm>
          <a:prstGeom prst="roundRect">
            <a:avLst>
              <a:gd name="adj" fmla="val 2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" y="1536192"/>
            <a:ext cx="347472" cy="347472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1536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35024" y="1572768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2E"/>
                </a:solidFill>
              </a:rPr>
              <a:t>Grounding a model in tools works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048256"/>
            <a:ext cx="4791456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ReAct [8] and Toolformer [9] — the model plans and calls tools instead of recalling facts.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Retrieval-augmented generation [10] — ground the answer in retrieved evidence.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ClimSight [11] and WildfireGPT [12] — multi-agent advisory systems for climate and wildfire.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ClimSight's XCLIM-AI extension reports its largest gains when indicators are computed deterministically rather than generated.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298448"/>
            <a:ext cx="5376672" cy="3520440"/>
          </a:xfrm>
          <a:prstGeom prst="roundRect">
            <a:avLst>
              <a:gd name="adj" fmla="val 2338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28816" y="153619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536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!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04304" y="1572768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2E"/>
                </a:solidFill>
              </a:rPr>
              <a:t>But grounding is not proof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048256"/>
            <a:ext cx="4791456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Lin et al. [13] survey hallucination in LLM agents: five failure types, eighteen causes.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They warn that agent errors can be “physically consequential” and cascade down a chain.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Tool bypass — the model simulates a tool's output instead of calling it — defeats auditing exactly when auditing matters.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4A58"/>
                </a:solidFill>
              </a:rPr>
              <a:t>Both systems above ground in documents, answer analytical questions, and still let the model write the conclusion.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84064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65A82"/>
                </a:solidFill>
              </a:rPr>
              <a:t>Which is why “only use the data provided” is treated in this work as insufficient. An unsupported number must be removed mechanically, not discouraged.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gap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481328"/>
                <a:gridCol w="1572768"/>
                <a:gridCol w="1920240"/>
                <a:gridCol w="1719072"/>
                <a:gridCol w="1346911"/>
              </a:tblGrid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Per-number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Ocean State Forecast [1]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Small Vessel Advisory [2]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Potential Fishing Zone [4]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(10)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Fisher Friend app 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(9)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ClimSight [11]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WildfireGPT [12]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9C4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Sagar Setu (proposed)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66928" y="4590288"/>
            <a:ext cx="11057839" cy="987552"/>
          </a:xfrm>
          <a:prstGeom prst="roundRect">
            <a:avLst>
              <a:gd name="adj" fmla="val 833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7824" y="4590288"/>
            <a:ext cx="1043604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E2E"/>
                </a:solidFill>
              </a:rPr>
              <a:t>No published system lets a fisherman ask one question in his own language and receive a single operational decision — safety, fishing and boundary together — that is provably derived from official products rather than generated by a model.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Objectives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5376672" cy="1408176"/>
          </a:xfrm>
          <a:prstGeom prst="roundRect">
            <a:avLst>
              <a:gd name="adj" fmla="val 58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727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572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08176" y="1554480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2E"/>
                </a:solidFill>
              </a:rPr>
              <a:t>Integrate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1901952"/>
            <a:ext cx="42428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Safety, fishing zones and boundaries behind one conversational interface.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1298448"/>
            <a:ext cx="5376672" cy="1408176"/>
          </a:xfrm>
          <a:prstGeom prst="roundRect">
            <a:avLst>
              <a:gd name="adj" fmla="val 58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10528" y="157276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0528" y="1572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77456" y="1554480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2E"/>
                </a:solidFill>
              </a:rPr>
              <a:t>Separate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1901952"/>
            <a:ext cx="42428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The safety verdict produced by deterministic, unit-tested rules — structurally outside the model's reach.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2907792"/>
            <a:ext cx="5376672" cy="1408176"/>
          </a:xfrm>
          <a:prstGeom prst="roundRect">
            <a:avLst>
              <a:gd name="adj" fmla="val 58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182112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182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16382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2E"/>
                </a:solidFill>
              </a:rPr>
              <a:t>Prove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3511296"/>
            <a:ext cx="42428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An evidence ledger per observation, and a verifier that deletes any number absent from it.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36208" y="2907792"/>
            <a:ext cx="5376672" cy="1408176"/>
          </a:xfrm>
          <a:prstGeom prst="roundRect">
            <a:avLst>
              <a:gd name="adj" fmla="val 58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10528" y="3182112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10528" y="3182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77456" y="316382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2E"/>
                </a:solidFill>
              </a:rPr>
              <a:t>Translate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3511296"/>
            <a:ext cx="42428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End-to-end question answering in Indian languages, starting with Tamil and Hindi.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517136"/>
            <a:ext cx="5376672" cy="1408176"/>
          </a:xfrm>
          <a:prstGeom prst="roundRect">
            <a:avLst>
              <a:gd name="adj" fmla="val 58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479145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4791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08176" y="4773168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2E"/>
                </a:solidFill>
              </a:rPr>
              <a:t>Degrade honestly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08176" y="5120640"/>
            <a:ext cx="42428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Cache → live → stale cache → snapshot, always declaring which one answered.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36208" y="4517136"/>
            <a:ext cx="5376672" cy="1408176"/>
          </a:xfrm>
          <a:prstGeom prst="roundRect">
            <a:avLst>
              <a:gd name="adj" fmla="val 584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10528" y="4791456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0528" y="4791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077456" y="4773168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E2E"/>
                </a:solidFill>
              </a:rPr>
              <a:t>Evaluate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77456" y="5120640"/>
            <a:ext cx="42428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At the level the user acts on — the verdict — with POD, FAR and CSI.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344168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344168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13258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2E"/>
                </a:solidFill>
              </a:rPr>
              <a:t>Understand and explain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46504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A58"/>
                </a:solidFill>
              </a:rPr>
              <a:t>The model reads the question and writes the answer. Those are language tasks, and it is good at them.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825496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825496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 AI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80720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2E"/>
                </a:solidFill>
              </a:rPr>
              <a:t>Decide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227832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A58"/>
                </a:solidFill>
              </a:rPr>
              <a:t>Seven checks against a threshold table for that vessel class. Pure Python, 115 unit tests, under 50 ms.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306824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4306824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 AI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42885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E2E"/>
                </a:solidFill>
              </a:rPr>
              <a:t>Check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70916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3A4A58"/>
                </a:solidFill>
              </a:rPr>
              <a:t>Every number in the drafted answer is traced back to the ledger. Anything unsupported is removed and the answer rewritten.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5486400"/>
            <a:ext cx="5760720" cy="658368"/>
          </a:xfrm>
          <a:prstGeom prst="roundRect">
            <a:avLst>
              <a:gd name="adj" fmla="val 125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486400"/>
            <a:ext cx="5248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</a:rPr>
              <a:t>The model never computes, adjusts or softens the verdict.</a:t>
            </a:r>
            <a:endParaRPr lang="en-US" sz="1350" dirty="0"/>
          </a:p>
        </p:txBody>
      </p:sp>
      <p:pic>
        <p:nvPicPr>
          <p:cNvPr id="17" name="Image 0" descr="C:\Users\Asus VivoBook\Downloads\Sagar Setu\docs\architecture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060704"/>
            <a:ext cx="4224528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rule that shapes everything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25296"/>
            <a:ext cx="11057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worst parameter decides. Never an average.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556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A4A58"/>
                </a:solidFill>
              </a:rPr>
              <a:t>Averaging across six parameters is how a system sends a boat out under a thunderhead because the waves happened to be calm.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22576"/>
          <a:ext cx="786384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554480"/>
                <a:gridCol w="178308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8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SAIL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 wave height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1.5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2.5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2.5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Sustained wind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19 kt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– 27 kt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27 kt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 steepness (Hs/T²)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short-period swell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breaking-sea regime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proximity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&lt; 50 km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– 100 km closing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strike &lt; 50 km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Cyclone cone of uncertainty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intersect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 72 – 120 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 &lt; 48 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5 km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5 km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km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705088" y="2322576"/>
            <a:ext cx="2935224" cy="1298448"/>
          </a:xfrm>
          <a:prstGeom prst="roundRect">
            <a:avLst>
              <a:gd name="adj" fmla="val 6338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0" y="2322576"/>
            <a:ext cx="24231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</a:rPr>
              <a:t>Missing wave or wind data can never produce a GO.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05088" y="3785616"/>
            <a:ext cx="2935224" cy="1115568"/>
          </a:xfrm>
          <a:prstGeom prst="roundRect">
            <a:avLst>
              <a:gd name="adj" fmla="val 737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0" y="3785616"/>
            <a:ext cx="24231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Three vessel classes, separate tables: traditional &lt; 12 m, motorised 12–20 m, mechanised &gt; 20 m.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23036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</a:rPr>
              <a:t>Provisional values. INCOIS's Boat Safety Index independently selects steepness, directional spread and beam width — calibrating against its published criteria is identified, outstanding work.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often is it right?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0700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3A4A58"/>
                </a:solidFill>
              </a:rPr>
              <a:t>Day-ahead “do not sail” verdict, 92 mornings × 5 harbours = 460 harbour-mornings, 2026 south-west monsoon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798064" cy="1792224"/>
          </a:xfrm>
          <a:prstGeom prst="roundRect">
            <a:avLst>
              <a:gd name="adj" fmla="val 4592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75564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93.9 %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52374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of dangerous mornings were warned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054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</a:rPr>
              <a:t>hit rate (POD)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84448" y="1609344"/>
            <a:ext cx="2798064" cy="1792224"/>
          </a:xfrm>
          <a:prstGeom prst="roundRect">
            <a:avLst>
              <a:gd name="adj" fmla="val 4592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22192" y="175564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3.1 %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822192" y="252374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3A4A58"/>
                </a:solidFill>
              </a:rPr>
              <a:t>of warnings wasted a good day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3054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</a:rPr>
              <a:t>false-alarm ratio (FAR)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01968" y="1609344"/>
            <a:ext cx="5020056" cy="1792224"/>
          </a:xfrm>
          <a:prstGeom prst="roundRect">
            <a:avLst>
              <a:gd name="adj" fmla="val 4592"/>
            </a:avLst>
          </a:prstGeom>
          <a:solidFill>
            <a:srgbClr val="E4F3EA"/>
          </a:solidFill>
          <a:ln w="12700">
            <a:solidFill>
              <a:srgbClr val="E4F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76288" y="1609344"/>
            <a:ext cx="448056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633F"/>
                </a:solidFill>
              </a:rPr>
              <a:t>Both misses were graded CAUTION.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4633F"/>
                </a:solidFill>
              </a:rPr>
              <a:t>No dangerous morning was ever graded GO.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3931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2103120"/>
                <a:gridCol w="2194560"/>
                <a:gridCol w="1554480"/>
                <a:gridCol w="16395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lead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rate (POD)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False-alarm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3-way agreement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 ahead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days ahead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days ahead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66928" y="5724144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</a:rPr>
              <a:t>Honest limit: truth here is the same wave model's final analysis, not a buoy measurement — no public INCOIS or NIOT buoy feed is available to us. These are therefore an upper bound on skill. The harness runs unchanged against buoy data the moment access is obtained.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364224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6576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Where we are, and what we need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9844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Complete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66928" y="1719072"/>
            <a:ext cx="246888" cy="246888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7190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FD8BC"/>
                </a:solidFill>
              </a:rPr>
              <a:t>Phase 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48256" y="171907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3E0EB"/>
                </a:solidFill>
              </a:rPr>
              <a:t>Data sources verified, a week of real data frozen for offline demo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246888" cy="246888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5054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5054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FD8BC"/>
                </a:solidFill>
              </a:rPr>
              <a:t>Phase 2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048256" y="250545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3E0EB"/>
                </a:solidFill>
              </a:rPr>
              <a:t>Typed tool belt and deterministic risk engine — 115 unit tests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291840"/>
            <a:ext cx="246888" cy="246888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2918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2918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FD8BC"/>
                </a:solidFill>
              </a:rPr>
              <a:t>Phase 3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048256" y="329184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3E0EB"/>
                </a:solidFill>
              </a:rPr>
              <a:t>LangGraph agent system: planner, parallel specialists, verifier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78224"/>
            <a:ext cx="246888" cy="246888"/>
          </a:xfrm>
          <a:prstGeom prst="ellipse">
            <a:avLst/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407822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0782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FD8BC"/>
                </a:solidFill>
              </a:rPr>
              <a:t>Phase 4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048256" y="407822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3E0EB"/>
                </a:solidFill>
              </a:rPr>
              <a:t>FastAPI + SSE backend, React + MapLibre interface with the ledger visible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9377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4"/>
                </a:solidFill>
              </a:rPr>
              <a:t>Phases 5 and 6 — Bhashini translation, route optimisation, offline hardening — remain.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12984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would make this materially better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92240" y="1719072"/>
            <a:ext cx="5138928" cy="1152144"/>
          </a:xfrm>
          <a:prstGeom prst="roundRect">
            <a:avLst>
              <a:gd name="adj" fmla="val 7143"/>
            </a:avLst>
          </a:prstGeom>
          <a:solidFill>
            <a:srgbClr val="1E3E5C"/>
          </a:solidFill>
          <a:ln w="12700">
            <a:solidFill>
              <a:srgbClr val="1E3E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9984" y="1938528"/>
            <a:ext cx="292608" cy="292608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29984" y="1938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19019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A8"/>
                </a:solidFill>
              </a:rPr>
              <a:t>IMD API key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0" y="223113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8D8E6"/>
                </a:solidFill>
              </a:rPr>
              <a:t>Needs a letter on college letterhead. Unlocks lightning and cyclone parameters — two of the seven checks are inactive without it.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92240" y="2999232"/>
            <a:ext cx="5138928" cy="1152144"/>
          </a:xfrm>
          <a:prstGeom prst="roundRect">
            <a:avLst>
              <a:gd name="adj" fmla="val 7143"/>
            </a:avLst>
          </a:prstGeom>
          <a:solidFill>
            <a:srgbClr val="1E3E5C"/>
          </a:solidFill>
          <a:ln w="12700">
            <a:solidFill>
              <a:srgbClr val="1E3E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9984" y="3218688"/>
            <a:ext cx="292608" cy="292608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9984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31821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A8"/>
                </a:solidFill>
              </a:rPr>
              <a:t>INCOIS threshold criteria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351129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8D8E6"/>
                </a:solidFill>
              </a:rPr>
              <a:t>The published small-craft numbers behind the Boat Safety Index, to replace our provisional table.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92240" y="4279392"/>
            <a:ext cx="5138928" cy="1152144"/>
          </a:xfrm>
          <a:prstGeom prst="roundRect">
            <a:avLst>
              <a:gd name="adj" fmla="val 7143"/>
            </a:avLst>
          </a:prstGeom>
          <a:solidFill>
            <a:srgbClr val="1E3E5C"/>
          </a:solidFill>
          <a:ln w="12700">
            <a:solidFill>
              <a:srgbClr val="1E3E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9984" y="4498848"/>
            <a:ext cx="292608" cy="292608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29984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46227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9A8"/>
                </a:solidFill>
              </a:rPr>
              <a:t>Buoy observations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0" y="479145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8D8E6"/>
                </a:solidFill>
              </a:rPr>
              <a:t>INCOIS or NIOT data would turn the evaluation from model-against-model into model-against-the-sea.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6144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AB3"/>
                </a:solidFill>
              </a:rPr>
              <a:t>Total external cost of the project to date: ₹0.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ar Setu">
  <a:themeElements>
    <a:clrScheme name="Sagar Setu">
      <a:dk1>
        <a:srgbClr val="0F1E2E"/>
      </a:dk1>
      <a:lt1>
        <a:srgbClr val="FFFFFF"/>
      </a:lt1>
      <a:dk2>
        <a:srgbClr val="16304A"/>
      </a:dk2>
      <a:lt2>
        <a:srgbClr val="EDF2F6"/>
      </a:lt2>
      <a:accent1>
        <a:srgbClr val="065A82"/>
      </a:accent1>
      <a:accent2>
        <a:srgbClr val="1C7293"/>
      </a:accent2>
      <a:accent3>
        <a:srgbClr val="C0392B"/>
      </a:accent3>
      <a:accent4>
        <a:srgbClr val="1B8A5A"/>
      </a:accent4>
      <a:accent5>
        <a:srgbClr val="D98324"/>
      </a:accent5>
      <a:accent6>
        <a:srgbClr val="6B7C8C"/>
      </a:accent6>
      <a:hlink>
        <a:srgbClr val="1C7293"/>
      </a:hlink>
      <a:folHlink>
        <a:srgbClr val="6B7C8C"/>
      </a:folHlink>
    </a:clrScheme>
    <a:fontScheme name="Sagar Set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Sagar Setu — Mid-Term Review</dc:title>
  <dc:subject>PptxGenJS Presentation</dc:subject>
  <dc:creator>Harshvardhan Singh</dc:creator>
  <cp:lastModifiedBy>Harshvardhan Singh</cp:lastModifiedBy>
  <cp:revision>1</cp:revision>
  <dcterms:created xsi:type="dcterms:W3CDTF">2026-10-11T09:16:00Z</dcterms:created>
  <dcterms:modified xsi:type="dcterms:W3CDTF">2026-10-11T09:16:01Z</dcterms:modified>
</cp:coreProperties>
</file>