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33095fd-4b1d-54e6-d4a6-0f62e46e2f1e}">
          <p14:sldIdLst>
            <p14:sldId id="256"/>
          </p14:sldIdLst>
        </p14:section>
        <p14:section name="Problem definition" id="{87903dc1-f0ed-eb48-d785-45ad66f40142}">
          <p14:sldIdLst>
            <p14:sldId id="257"/>
          </p14:sldIdLst>
        </p14:section>
        <p14:section name="Literature survey" id="{270afdb5-72dd-4ede-15fc-8d7b9f051203}">
          <p14:sldIdLst>
            <p14:sldId id="258"/>
            <p14:sldId id="259"/>
            <p14:sldId id="260"/>
          </p14:sldIdLst>
        </p14:section>
        <p14:section name="Research gap" id="{ae37ad46-e36a-fcd1-8f90-9b6e15fa228b}">
          <p14:sldIdLst>
            <p14:sldId id="261"/>
            <p14:sldId id="262"/>
          </p14:sldIdLst>
        </p14:section>
        <p14:section name="Methodology" id="{87f75100-64c2-1014-6493-a1e9e3d7ef02}">
          <p14:sldIdLst>
            <p14:sldId id="263"/>
            <p14:sldId id="264"/>
          </p14:sldIdLst>
        </p14:section>
        <p14:section name="Evaluation" id="{863f93be-6d52-48d9-0a72-62f6648707e3}">
          <p14:sldIdLst>
            <p14:sldId id="265"/>
          </p14:sldIdLst>
        </p14:section>
        <p14:section name="References" id="{45d25407-f99c-4f24-1830-2089a273925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Sagar Setu: 'bridge to the sea'. One sentence — a fisherman asks in his own language and gets a safety decision built from official data, where the AI explains the decision but never makes it. Today's structure follows the review criteria: problem, literature survey, research gap, objectives, methodology.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on the left, the formal problem statement on the right. Read the constraint aloud — it shapes every design decision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last column. Each row's limitation becomes a gap on slide 6. SVAS is the closest product to our safety half: it independently confirms wave steepness and vessel size matter — but it is a map, not a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halves. GraphCast and Pangu are here as the road deliberately not taken: competing with INCOIS's validated forecast needs data and compute a student project does not have. RAG, ReAct and Toolformer are the techniques that make the system possible — and their shared limitation is that grounding is encouraged, not enforced.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ClimSight is the single strongest support for the design: its own extension reports the biggest gains when indicators are computed deterministically. Lin et al. is why the verifier exists — prompting a model to be careful is not a guarantee.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of this table is a study from the three survey slides. Walk it row by row. The SVAS row is the only one with a deterministic verdict — but it fails every other column. ClimSight and WildfireGPT are conversational, but they ground in documents and let the model conclude. Nobody has the bottom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gap traces to evidence on the survey slides, and each maps to one objective. O2 and O3 are the novel part — keep the safety decision out of the model, and make unsupported numbers impossible rather than unlikely.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five steps and the technique used at each. Right: the same pipeline as a diagram — blue is AI, red is no AI. The red dashed line is the design: below it there is no model at all. The ledger is what makes step 5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source was tested live from this laptop before any code was written against it — documented in docs/data-sources.md. Be upfront about the two red rows: IMD needs an API key (a letter on college letterhead), and INCOIS's open ERDDAP archive is stale. Total cost of every source: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professor asked last time how often we are right — this is the answer. Stress the asymmetry: the misses fell to caution, never to go. State the limitation before it is asked. Close on the three needs, leading with the IMD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reference was checked against its publisher or repository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6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1920240"/>
            <a:ext cx="1118585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246120"/>
            <a:ext cx="9601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BDD2E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rgbClr val="BDD2E2"/>
                </a:solidFill>
              </a:rPr>
              <a:t> 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 </a:t>
            </a: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02920" y="64556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Sagar Setu  ·  Mid-term review  ·  13 October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1920240"/>
            <a:ext cx="11185855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spc="300" kern="0" dirty="0">
                <a:solidFill>
                  <a:schemeClr val="bg1"/>
                </a:solidFill>
              </a:rPr>
              <a:t>SAGAR SETU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24612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BDD2E2"/>
                </a:solidFill>
              </a:rPr>
              <a:t>An agentic, evidence-grounded marine advisory system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BDD2E2"/>
                </a:solidFill>
              </a:rPr>
              <a:t>for Indian small-craft fishermen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4645152"/>
            <a:ext cx="411480" cy="365760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46451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8992" y="4645152"/>
            <a:ext cx="891540" cy="365760"/>
          </a:xfrm>
          <a:prstGeom prst="roundRect">
            <a:avLst>
              <a:gd name="adj" fmla="val 50000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4645152"/>
            <a:ext cx="8915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CAUTION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35124" y="4645152"/>
            <a:ext cx="1275588" cy="365760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35124" y="4645152"/>
            <a:ext cx="1275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 NOT SAIL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815584"/>
            <a:ext cx="111858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D2E2"/>
                </a:solidFill>
              </a:rPr>
              <a:t>Harshvardhan Singh   ·   Supervisor: Ms. Anusha Chhabra   ·   Mid-term review, 13 October 2026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6144768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AB3"/>
                </a:solidFill>
              </a:rPr>
              <a:t>ISRO / INCOIS agentic marine intelligence problem statement  ·  Smart India Hackathon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Introduction and problem definition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80015" y="429768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80015" y="42976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PROBLEM DEFINITION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3444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</a:rPr>
              <a:t>Context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64208"/>
            <a:ext cx="5440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E3E4C"/>
                </a:solidFill>
              </a:rPr>
              <a:t>About 4 million people depend on marine fishing in India; most work boats under 12 m — no radar, little offshore signal.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E3E4C"/>
                </a:solidFill>
              </a:rPr>
              <a:t>One decision a day, made before dawn: go, or stay. Wrong one way costs a day's income; wrong the other way can cost the boat and crew.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E3E4C"/>
                </a:solidFill>
              </a:rPr>
              <a:t>Three questions arrive together: Is it safe? Where are the fish? Where is the maritime border?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E3E4C"/>
                </a:solidFill>
              </a:rPr>
              <a:t>India already publishes the answer to each — in three separate products, as maps and bulletins.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188720"/>
            <a:ext cx="5425135" cy="4005072"/>
          </a:xfrm>
          <a:prstGeom prst="roundRect">
            <a:avLst>
              <a:gd name="adj" fmla="val 182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1389888"/>
            <a:ext cx="4839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</a:rPr>
              <a:t>Problem statement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1828800"/>
            <a:ext cx="483991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0F1E2E"/>
                </a:solidFill>
              </a:rPr>
              <a:t>Given a free-form question in any of India's scheduled languages, produce a single, trustworthy operational answer — safety verdict, fishing guidance and boundary warning together — derived verifiably from official marine data, fast enough to use before a boat leaves, and degrading honestly when sources fail.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56248" y="4151376"/>
            <a:ext cx="4839919" cy="841248"/>
          </a:xfrm>
          <a:prstGeom prst="roundRect">
            <a:avLst>
              <a:gd name="adj" fmla="val 8696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151376"/>
            <a:ext cx="447415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2B21"/>
                </a:solidFill>
              </a:rPr>
              <a:t>Constraint: the language model must never be the component that decides whether it is safe to go to sea.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5440680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5440680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The gap is not data. It is the last step between a government portal and a fisherman on a beach at 4 a.m.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Literature survey I — Indian marine information services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17175" y="4297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17175" y="4297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LITERATURE 1 / 3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057400"/>
                <a:gridCol w="2606040"/>
                <a:gridCol w="2240280"/>
                <a:gridCol w="24076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our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Nair et al., 2013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Science [1]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 INCOIS's operational Ocean State Forecast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wave height vs wave-rider buoys, ship-borne wave meters, satellite altimeters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 index &lt; 15 %; r = 0.98, RMSE 0.35 m at Gopalpur (Cyclone Phailin)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the forecast field, not any decision; reports RMSE, not verdict skill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SVAS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portal [2], [3]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Boat-specific overturning advisory, ten days ahead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 Safety Index from wave height, steepness, directional spread, wind-sea growth; beam &lt; 4 / 6 / 7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Steepness and beam govern capsizing — not wave height alone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Colour-coded map, English only; thresholds unpublished; separate from fishing zones and borders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Pillai &amp; Nair, 2010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Biological Forum [4]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 PFZ advisories on the Kerala coast, 2006–2010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fishers' catch data plus controlled experiments inside and outside notified zones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CPUE higher inside zones: ~2–6× catch, ~2–7× monetary benefit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Regional, institute-affiliated evidence; advisory is a bulletin, not interactive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MSSRF Fisher Friend;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dissemination [5]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Getting advisories to fishermen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app in 9 languages, multilingual SMS, 24×7 helpline, ~30 km offshore mobile pilot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reach achieved; offshore connectivity remains the constraint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only — no channel accepts a question about a specific boat, place and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650992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" y="5650992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2B21"/>
                </a:solidFill>
              </a:rPr>
              <a:t>India's marine data is validated and excellent. What no product does is reason across all three and answer a question.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Literature survey II — forecasting and AI reasoning techniques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17175" y="4297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17175" y="4297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LITERATURE 2 / 3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057400"/>
                <a:gridCol w="2606040"/>
                <a:gridCol w="2240280"/>
                <a:gridCol w="24076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our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 et al.,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Science [6]  ·  GraphCast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Machine-learned global medium-range weather forecasting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trained on decades of ERA5 reanalysis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Outperforms operational numerical prediction on most headline scores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decades of reanalysis and heavy compute; produces fields, not decisions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 et al.,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[7]  ·  Pangu-Weather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Machine-learned global medium-range weather forecasting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 Earth-specific transformer trained on ERA5 reanalysis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comparable to operational numerical prediction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Would replace a forecast INCOIS already provides, validated and free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Lewis et al., 2020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NeurIPS [10]  ·  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Retrieval-augmented generation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Sequence-to-sequence generator combined with a dense retriever over Wikipedia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in retrieved passages improves factual question answering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Grounds in text; does not guarantee every generated claim is supported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Yao et al.,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ICLR [8]  ·  ReAct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Interleaving reasoning with tool actions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Prompted LLM alternating thoughts and API / environment actions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tool access reduces hallucination compared with reasoning alone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use is prompted, not enforced; the model still writes the final answer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Schick et al.,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NeurIPS [9]  ·  Toolformer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that learn when to call APIs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Self-supervised; calculator, QA, search, translation, calendar tools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useful tool calls with little human annotation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model decides when to call a tool and whether to trust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650992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" y="5650992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2B21"/>
                </a:solidFill>
              </a:rPr>
              <a:t>Training a forecaster is the road not taken. Tool-using agents make this approach possible — but none enforces that the answer comes from the tools.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Literature survey III — LLM decision support, reliability, evaluation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17175" y="4297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17175" y="4297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LITERATURE 3 / 3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057400"/>
                <a:gridCol w="2606040"/>
                <a:gridCol w="2240280"/>
                <a:gridCol w="24076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our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Kuznetsov et al.,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npj Climate Action [11]  ·  ClimSight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climate-service platform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routing + retrieval over climate models and reports; XCLIM-AI adds deterministic indicator computation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gains when indicators are computed deterministically, not generated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Analytical questions for planners; the model writes the conclusion; English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Xie et al.,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 [12]  ·  WildfireGPT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hazard decision 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over hazard projections, observations and literature; ten expert case studies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Outperforms existing LLM tools in expert-led evaluation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grounding; no operational go / no-go; no per-number provenance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et al.,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 [13]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of hallucination in LLM 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Taxonomy across five workflow stages; eighteen triggering causes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errors can be “physically consequential” and cascade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cannot guarantee faithfulness — verification must be mechanical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Gala et al.,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TMLR [14]  ·  IndicTrans2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translation for all 22 scheduled languages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BPCC corpus of 230 M bitext pairs; IN22 benchmark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model to cover all 22 languages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is solved; no conversational marine system uses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Jolliffe &amp; Stephenson, 2012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Wiley [15]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verification methodology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2×2 contingency table: POD, FAR, CSI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Misses and false alarms must be scored separately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Applied to forecast fields — never to safety verdicts in this domain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650992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" y="5650992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2B21"/>
                </a:solidFill>
              </a:rPr>
              <a:t>The closest systems still let the model conclude. ClimSight's own finding points the other way — we take it to its end.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Research gap — comparative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91495" y="429768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91495" y="4297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RESEARCH GAP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69848"/>
                <a:gridCol w="1207008"/>
                <a:gridCol w="1243584"/>
                <a:gridCol w="1371600"/>
                <a:gridCol w="1243584"/>
                <a:gridCol w="1161288"/>
                <a:gridCol w="1191463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Conver-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numeric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verdict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Per-number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+ fish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Verdict-level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Ocean State Forecast [1]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Small Vessel Advisory [2]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Potential Fishing Zone [4]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catch-based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Fisher Friend app [5]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ClimSight [11]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WildfireGPT [12]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studies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Sagar Setu (proposed)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/ FAR / 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773168"/>
            <a:ext cx="11185855" cy="1024128"/>
          </a:xfrm>
          <a:prstGeom prst="roundRect">
            <a:avLst>
              <a:gd name="adj" fmla="val 7143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4773168"/>
            <a:ext cx="1060063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2B21"/>
                </a:solidFill>
              </a:rPr>
              <a:t>No published system lets a fisherman ask one question in his own language and receive a single operational decision — safety, fishing and border together — that is provably derived from official products rather than generated by a model.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Research gaps and 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80015" y="429768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80015" y="42976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GAP  →  OBJECTIVES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1371600"/>
                <a:gridCol w="515081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identified in the literature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5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 — safety, fish and borders are three separate products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[2] [4] [5]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Integrate all three behind one conversational interface that accepts a question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only — no channel accepts a question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reach is translated output, not dialogue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[5] [14]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O4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question answering in Indian languages, Tamil and Hindi first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is document-level; hallucination remains unsolved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[11] [12] [13]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O3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ledger per observation; a verifier that deletes any unsupported number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G5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architecture keeps the safety decision out of the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[11] [8] [9]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O2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Deterministic, unit-tested safety verdict, structurally outside the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stops at forecast RMSE, never the verdict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[1] [15]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O6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 the verdict itself with POD, FAR and CSI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Offshore connectivity is unreliable (operational constraint)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O5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→ live → stale cache → snapshot, always declaring degradation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650992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" y="5650992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O2 and O3 are the research contribution. The rest is engineering that makes them usable.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Proposed methodology I — architecture and techniques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660075" y="429768"/>
            <a:ext cx="1028700" cy="292608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660075" y="429768"/>
            <a:ext cx="102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METHODOLOGY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6903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572000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Understand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planner emits a typed task DAG (Pydantic schema, validated, one retry)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parallel superstep: ocean &amp; weather, geospatial &amp; boundary, analytics. Async fetch; cache → live (2 s) → stale → 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rule engine: 7 parameters × 3 vessel classes; worst parameter wins, never an average; &lt; 50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writes the answer in the user's language from a structured brief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number extracted (Latin and Indic digits) and matched to the ledger; unsupported → stripped and regenerated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800600"/>
            <a:ext cx="6903720" cy="1261872"/>
          </a:xfrm>
          <a:prstGeom prst="roundRect">
            <a:avLst>
              <a:gd name="adj" fmla="val 579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" y="4800600"/>
            <a:ext cx="64282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65A82"/>
                </a:solidFill>
              </a:rPr>
              <a:t>Evidence ledger.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E3E4C"/>
                </a:solidFill>
              </a:rPr>
              <a:t>No tool returns a bare number. Every value is an Observation — value, unit, source, valid time, fetch time, distance to the query point, confidence, note. About 130 per question, shown to the user beneath every answer.</a:t>
            </a:r>
            <a:endParaRPr lang="en-US" sz="1250" dirty="0"/>
          </a:p>
        </p:txBody>
      </p:sp>
      <p:pic>
        <p:nvPicPr>
          <p:cNvPr id="8" name="Image 0" descr="C:\Users\Asus VivoBook\Downloads\Sagar Setu\docs\architecture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042416"/>
            <a:ext cx="4096512" cy="4919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Proposed methodology II — dataset and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974275" y="429768"/>
            <a:ext cx="1714500" cy="292608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74275" y="429768"/>
            <a:ext cx="17145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METHODOLOGY · DATASET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3611880"/>
                <a:gridCol w="2148840"/>
                <a:gridCol w="1234440"/>
                <a:gridCol w="176753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Marine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height, period, direction; swell; currents; SST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JSON, hourly, 7 d past + 8 d ahead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Free, no key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Live — primary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Weather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Wind, gusts, visibility, thunderstorm code, CAPE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JSON, hourly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Free, no key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PFZ (GeoServer WFS)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Potential Fishing Zone advisory lines, by sector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GeoJSON, daily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static layers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PFZ sectors; 1,223 named landing centres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GeoJSON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Committed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Marine Regions (VLIZ)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EEZ polygon; boundary lines incl. IMBL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GeoJSON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Committed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NOAA CoastWatch (VIIRS)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Chlorophyll-a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ERDDAP grid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Copernicus Marine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Chlorophyll-a (BGC_001_028); physics (PHY_001_024)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NetCDF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account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Account active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IMD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Cyclone track, lightning, district warnings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key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Blocked (401)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ERDDAP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SST and chlorophyll archive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NetCDF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Stale (SST ends 2011)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919472"/>
            <a:ext cx="5478628" cy="1188720"/>
          </a:xfrm>
          <a:prstGeom prst="roundRect">
            <a:avLst>
              <a:gd name="adj" fmla="val 615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22376" y="4919472"/>
            <a:ext cx="50397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65A82"/>
                </a:solidFill>
              </a:rPr>
              <a:t>Derived datasets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E3E4C"/>
                </a:solidFill>
              </a:rPr>
              <a:t>Frozen 7-day snapshot × 5 harbours + Gulf of Mannar (offline fallback). Evaluation set: 92 days × 5 harbours of archived forecasts.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0148" y="4919472"/>
            <a:ext cx="5478628" cy="1188720"/>
          </a:xfrm>
          <a:prstGeom prst="roundRect">
            <a:avLst>
              <a:gd name="adj" fmla="val 615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29604" y="4919472"/>
            <a:ext cx="50397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65A82"/>
                </a:solidFill>
              </a:rPr>
              <a:t>Tools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E3E4C"/>
                </a:solidFill>
              </a:rPr>
              <a:t>Python 3.11 · Pydantic · LangGraph · FastAPI + SSE · httpx (async) · xarray / netCDF4 · Shapely · pytest · React + Vite + MapLibre GL · Gemini (free tier)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Evaluation method and preliminary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865815" y="42976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865815" y="42976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PROGRESS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353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Method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1755648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2E3E4C"/>
                </a:solidFill>
              </a:rPr>
              <a:t>Prediction: </a:t>
            </a:r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E3E4C"/>
                </a:solidFill>
              </a:rPr>
              <a:t>verdict from the forecast available the evening before.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2E3E4C"/>
                </a:solidFill>
              </a:rPr>
              <a:t>Truth: </a:t>
            </a:r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E3E4C"/>
                </a:solidFill>
              </a:rPr>
              <a:t>verdict from the same model's analysis of that morning.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2E3E4C"/>
                </a:solidFill>
              </a:rPr>
              <a:t>Sample: </a:t>
            </a:r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E3E4C"/>
                </a:solidFill>
              </a:rPr>
              <a:t>92 mornings × 5 harbours = 460, 2026 south-west monsoon.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2E3E4C"/>
                </a:solidFill>
              </a:rPr>
              <a:t>Metrics: </a:t>
            </a:r>
            <a:pPr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E3E4C"/>
                </a:solidFill>
              </a:rPr>
              <a:t>POD, FAR, CSI from the 2×2 contingency table [15].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52160" y="1188720"/>
            <a:ext cx="1823618" cy="3246120"/>
          </a:xfrm>
          <a:prstGeom prst="roundRect">
            <a:avLst>
              <a:gd name="adj" fmla="val 401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53328" y="1508760"/>
            <a:ext cx="14212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93.9 %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053328" y="2487168"/>
            <a:ext cx="1421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hit rate (POD)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2871216"/>
            <a:ext cx="1421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8"/>
                </a:solidFill>
              </a:rPr>
              <a:t>dangerous mornings that were warned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858658" y="1188720"/>
            <a:ext cx="1823618" cy="3246120"/>
          </a:xfrm>
          <a:prstGeom prst="roundRect">
            <a:avLst>
              <a:gd name="adj" fmla="val 401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59826" y="1508760"/>
            <a:ext cx="14212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3.1 %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059826" y="2487168"/>
            <a:ext cx="1421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false-alarm ratio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059826" y="2871216"/>
            <a:ext cx="1421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8"/>
                </a:solidFill>
              </a:rPr>
              <a:t>warnings that wasted a good day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865157" y="1188720"/>
            <a:ext cx="1823618" cy="3246120"/>
          </a:xfrm>
          <a:prstGeom prst="roundRect">
            <a:avLst>
              <a:gd name="adj" fmla="val 401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66325" y="1508760"/>
            <a:ext cx="14212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10066325" y="2487168"/>
            <a:ext cx="1421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misses graded GO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0066325" y="2871216"/>
            <a:ext cx="1421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8"/>
                </a:solidFill>
              </a:rPr>
              <a:t>both misses were graded CAUTION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4498848"/>
            <a:ext cx="58366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</a:rPr>
              <a:t>Day-ahead “do not sail” verdict. Skill falls with lead time, mainly through false alarms (3-day FAR 30.2 %).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919472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4919472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2B21"/>
                </a:solidFill>
              </a:rPr>
              <a:t>Limitation: truth is model analysis, not a buoy measurement — these figures are an upper bound on real skill.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5669280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2E"/>
                </a:solidFill>
              </a:rPr>
              <a:t>Status: </a:t>
            </a:r>
            <a:pPr indent="0" marL="0">
              <a:buNone/>
            </a:pPr>
            <a:r>
              <a:rPr lang="en-US" sz="1300" dirty="0">
                <a:solidFill>
                  <a:srgbClr val="2E3E4C"/>
                </a:solidFill>
              </a:rPr>
              <a:t>phases 1–4 of 6 complete · 115 unit tests · ₹0 cost.   </a:t>
            </a:r>
            <a:pPr indent="0" marL="0">
              <a:buNone/>
            </a:pPr>
            <a:r>
              <a:rPr lang="en-US" sz="1300" b="1" dirty="0">
                <a:solidFill>
                  <a:srgbClr val="0F1E2E"/>
                </a:solidFill>
              </a:rPr>
              <a:t>Needed: </a:t>
            </a:r>
            <a:pPr indent="0" marL="0">
              <a:buNone/>
            </a:pPr>
            <a:r>
              <a:rPr lang="en-US" sz="1300" dirty="0">
                <a:solidFill>
                  <a:srgbClr val="2E3E4C"/>
                </a:solidFill>
              </a:rPr>
              <a:t>IMD API key (college letter) · INCOIS small-craft criteria · INCOIS/NIOT buoy data.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07008"/>
            <a:ext cx="543290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[1]  B. T. M. Nair et al., “Performance of the ocean state forecast system at INCOIS,” Current Science, 105(2), 175–181, 2013.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[2]  INCOIS, “Small Vessel Advisory and Forecast Services (SVAS),” incois.gov.in/portal/osf/SVA_overview.jsp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[3]  A. N. Deshmukh, “Small Craft Advisory,” ITCOocean training material, INCOIS, Hyderabad.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[4]  V. N. Pillai and P. G. Nair, “Potential fishing zone (PFZ) advisories — are they beneficial to the coastal fisherfolk? A case study along Kerala coast,” Biological Forum, 2(2), 46–55, 2010.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[5]  M. S. Swaminathan Research Foundation, “Fisher Friend Mobile Application”; INCOIS multilingual dissemination services.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[6]  R. Lam et al., “Learning skillful medium-range global weather forecasting,” Science, 382(6677), 1416–1421, 2023.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[7]  K. Bi et al., “Accurate medium-range global weather forecasting with 3D neural networks,” Nature, 619, 533–538, 2023.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[8]  S. Yao et al., “ReAct: Synergizing reasoning and acting in language models,” ICLR, 2023.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55868" y="1207008"/>
            <a:ext cx="543290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[9]  T. Schick et al., “Toolformer: Language models can teach themselves to use tools,” NeurIPS 36, 2023.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[10]  P. Lewis et al., “Retrieval-augmented generation for knowledge-intensive NLP tasks,” NeurIPS 33, 9459–9474, 2020.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[11]  I. Kuznetsov et al., “Transforming climate services with LLMs and multi-source data integration,” npj Climate Action, 4, 97, 2025.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[12]  Y. Xie et al., “A RAG-based multi-agent LLM system for natural hazard resilience and adaptation,” arXiv:2504.17200, 2025.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[13]  X. Lin et al., “LLM-based agents suffer from hallucinations: a survey of taxonomy, methods, and directions,” arXiv:2509.18970, 2025.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[14]  J. Gala et al., “IndicTrans2: Towards high-quality and accessible machine translation models for all 22 scheduled Indian languages,” TMLR, 2023.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100" dirty="0">
                <a:solidFill>
                  <a:srgbClr val="2E3E4C"/>
                </a:solidFill>
              </a:rPr>
              <a:t>[15]  I. T. Jolliffe and D. B. Stephenson, Forecast Verification: A Practitioner's Guide in Atmospheric Science, 2nd ed., Wiley-Blackwell, 2012.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gar Setu">
  <a:themeElements>
    <a:clrScheme name="Sagar Setu">
      <a:dk1>
        <a:srgbClr val="0F1E2E"/>
      </a:dk1>
      <a:lt1>
        <a:srgbClr val="FFFFFF"/>
      </a:lt1>
      <a:dk2>
        <a:srgbClr val="16304A"/>
      </a:dk2>
      <a:lt2>
        <a:srgbClr val="EDF2F6"/>
      </a:lt2>
      <a:accent1>
        <a:srgbClr val="065A82"/>
      </a:accent1>
      <a:accent2>
        <a:srgbClr val="1C7293"/>
      </a:accent2>
      <a:accent3>
        <a:srgbClr val="B03A2E"/>
      </a:accent3>
      <a:accent4>
        <a:srgbClr val="1B8A5A"/>
      </a:accent4>
      <a:accent5>
        <a:srgbClr val="D98324"/>
      </a:accent5>
      <a:accent6>
        <a:srgbClr val="6B7C8C"/>
      </a:accent6>
      <a:hlink>
        <a:srgbClr val="1C7293"/>
      </a:hlink>
      <a:folHlink>
        <a:srgbClr val="6B7C8C"/>
      </a:folHlink>
    </a:clrScheme>
    <a:fontScheme name="Sagar Setu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Sagar Setu — Mid-Term Review</dc:title>
  <dc:subject>PptxGenJS Presentation</dc:subject>
  <dc:creator>Harshvardhan Singh</dc:creator>
  <cp:lastModifiedBy>Harshvardhan Singh</cp:lastModifiedBy>
  <cp:revision>1</cp:revision>
  <dcterms:created xsi:type="dcterms:W3CDTF">2026-10-12T15:28:27Z</dcterms:created>
  <dcterms:modified xsi:type="dcterms:W3CDTF">2026-10-12T15:28:27Z</dcterms:modified>
</cp:coreProperties>
</file>