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5444fd0-9ef8-3415-cce9-7dfd8309eb5f}">
          <p14:sldIdLst>
            <p14:sldId id="256"/>
          </p14:sldIdLst>
        </p14:section>
        <p14:section name="Problem definition" id="{cf0a2f7c-da17-b96d-482c-99f3c18bdd3b}">
          <p14:sldIdLst>
            <p14:sldId id="257"/>
          </p14:sldIdLst>
        </p14:section>
        <p14:section name="Literature survey" id="{6514fcd3-e2b9-4006-5f86-541cf8a0e741}">
          <p14:sldIdLst>
            <p14:sldId id="258"/>
            <p14:sldId id="259"/>
          </p14:sldIdLst>
        </p14:section>
        <p14:section name="Research gap" id="{56246817-a57f-5aad-3ce4-64f091d0f13d}">
          <p14:sldIdLst>
            <p14:sldId id="260"/>
            <p14:sldId id="261"/>
          </p14:sldIdLst>
        </p14:section>
        <p14:section name="Methodology" id="{b70e8d40-b170-cca9-0821-adddb4227347}">
          <p14:sldIdLst>
            <p14:sldId id="262"/>
            <p14:sldId id="263"/>
          </p14:sldIdLst>
        </p14:section>
        <p14:section name="Evaluation" id="{9229faaf-0ed3-5b44-6012-7110fe2bde01}">
          <p14:sldIdLst>
            <p14:sldId id="264"/>
          </p14:sldIdLst>
        </p14:section>
        <p14:section name="References" id="{77cb32ec-9492-72bd-b316-d60b50e7bcd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Sagar Setu: 'bridge to the sea'. One sentence — a fisherman asks in his own language and gets a safety decision built from official data, where the AI explains the decision but never makes it. Today's structure follows the review criteria: problem, literature survey, research gap, objectives,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on the left, the formal problem statement on the right. Read the constraint aloud — it shapes every design decision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studies on what the fisherman needs. Kurup: better local wind forecasts, but the decision is still his. Sarangi: fishing zones done properly need six satellite parameters and catch validation — which is why we consume INCOIS's PFZ product. Thoondil and Fisher Friend are the closest existing systems: real, operational, local-language — but menu screens, no question answering, no verdict. Read the red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Vincent establishes the border problem is structural — we do not solve the politics, only the fisherman's need to see the line. RAG is the principle: tomorrow's waves must be fetched, not remembered. RAGTruth is the key paper: even with the right data retrieved, models still produce unsupported content. That single finding justifies both research choices — fixed rules for the verdict, and a mechanical number checker.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a study from the two survey slides. Each covers one or two columns. Thoondil and Fisher Friend come closest — safety information, fishing zones, local language — but neither answers a question, issues a verdict from fixed rules, or verifies its numbers. RAG systems answer questions, but RAGTruth shows they cannot be trusted with the numbers. Nobody has the bottom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traces to evidence on the survey slides, and each maps to one objective. G4 and G5 come straight from RAGTruth: if retrieval cannot guarantee the numbers, the model must not make the safety call, and every number must be checked mechanically.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five steps and the technique used at each. Right: the same pipeline as a diagram — blue is AI, red is no AI. The red dashed line is the design: below it there is no model at all. The ledger is what makes step 5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source was tested live from this laptop before any code was written against it — documented in docs/data-sources.md. Be upfront about the two red rows: IMD needs an API key (a letter on college letterhead), and INCOIS's open ERDDAP archive is stale. Total cost of every source: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professor asked last time how often we are right — this is the answer. Stress the asymmetry: the misses fell to caution, never to go. The table shows skill falling with lead time, mainly through false alarms, which is why the day-ahead verdict is the decision. State the limitation before it is asked. Close on the three needs, leading with the IMD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reference was checked against its publisher or DOI record. Leave this slide on screen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1920240"/>
            <a:ext cx="11185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 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DD2E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BDD2E2"/>
                </a:solidFill>
              </a:rPr>
              <a:t> 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02920" y="64556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Sagar Setu  ·  Mid-term review  ·  13 October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192024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spc="300" kern="0" dirty="0">
                <a:solidFill>
                  <a:schemeClr val="bg1"/>
                </a:solidFill>
              </a:rPr>
              <a:t>SAGAR SETU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DD2E2"/>
                </a:solidFill>
              </a:rPr>
              <a:t>An agentic, evidence-grounded marine advisory system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BDD2E2"/>
                </a:solidFill>
              </a:rPr>
              <a:t>for Indian small-craft fishermen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464515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6451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78992" y="4645152"/>
            <a:ext cx="891540" cy="365760"/>
          </a:xfrm>
          <a:prstGeom prst="roundRect">
            <a:avLst>
              <a:gd name="adj" fmla="val 50000"/>
            </a:avLst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4645152"/>
            <a:ext cx="891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5124" y="4645152"/>
            <a:ext cx="1275588" cy="365760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5124" y="4645152"/>
            <a:ext cx="1275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 NOT SAIL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815584"/>
            <a:ext cx="111858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DD2E2"/>
                </a:solidFill>
              </a:rPr>
              <a:t>Harshvardhan Singh   ·   Supervisor: Ms. Anusha Chhabra   ·   Mid-term review, 13 October 2026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14476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B3"/>
                </a:solidFill>
              </a:rPr>
              <a:t>ISRO / INCOIS agentic marine intelligence problem statement  ·  Smart India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Introduction and problem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80015" y="42976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80015" y="429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DEFINITION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Context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64208"/>
            <a:ext cx="5440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E4C"/>
                </a:solidFill>
              </a:rPr>
              <a:t>About 4 million people depend on marine fishing in India; most work boats under 12 m — no radar, little offshore signal.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E4C"/>
                </a:solidFill>
              </a:rPr>
              <a:t>One decision a day, made before dawn: go, or stay. Wrong one way costs a day's income; wrong the other way can cost the boat and crew.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E4C"/>
                </a:solidFill>
              </a:rPr>
              <a:t>Three questions arrive together: Is it safe? Where are the fish? Where is the maritime border?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E3E4C"/>
                </a:solidFill>
              </a:rPr>
              <a:t>India already publishes the answer to each — in three separate products, as maps and bulletins.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425135" cy="4005072"/>
          </a:xfrm>
          <a:prstGeom prst="roundRect">
            <a:avLst>
              <a:gd name="adj" fmla="val 1826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6248" y="1389888"/>
            <a:ext cx="48399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1828800"/>
            <a:ext cx="483991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1E2E"/>
                </a:solidFill>
              </a:rPr>
              <a:t>Given a free-form question in any of India's scheduled languages, produce a single, trustworthy operational answer — safety verdict, fishing guidance and boundary warning together — derived verifiably from official marine data, fast enough to use before a boat leaves, and degrading honestly when sources fail.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56248" y="4151376"/>
            <a:ext cx="4839919" cy="841248"/>
          </a:xfrm>
          <a:prstGeom prst="roundRect">
            <a:avLst>
              <a:gd name="adj" fmla="val 8696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39128" y="4151376"/>
            <a:ext cx="44741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2B21"/>
                </a:solidFill>
              </a:rPr>
              <a:t>Constraint: the language model must never be the component that decides whether it is safe to go to sea.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44068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5440680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2E"/>
                </a:solidFill>
              </a:rPr>
              <a:t>The gap is not data. It is the last step between a government portal and a fisherman on a beach at 4 a.m.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survey I — the fisherman's needs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17175" y="4297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429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LITERATURE 1 / 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057400"/>
                <a:gridCol w="2606040"/>
                <a:gridCol w="2240280"/>
                <a:gridCol w="24076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for our problem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Kurup et al.,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79(7) 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Localised coastal wind forecasts for artisan fishers, Kerala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WRF model downscaled to a 5 km grid; forecasts issued per 25 × 25 km zone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Localised forecasts complement official ones issued for large ocean areas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Forecasts wind only; turning it into a go / no-go call is left to the fisher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Sarangi et al.,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Environ. Monit. Assess. 196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Multi-parameter fishing-zone generation, western Bay of Bengal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Chlorophyll, SST fronts, winds, currents, Ekman transport, eddies; FSI catch data 2016–18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Chlorophyll correlates most with catch, then fronts and eddies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zone map only — not linked to safety, the boat or the border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Saka et al., 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MTS Journal 55(3) [3]  ·  Thoondil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 safety app run by Tamil Nadu Fisheries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app: offline maps to nearest port, weather, PFZ, incident reports; web-GIS boat tracking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Operational, local language, 15,000+ downloads in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screens; no free-form questions; no go / no-go verdict described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Anabel et al., 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CSI Trans. ICT 6(3–4) [4]  ·  Fisher Friend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Decision-support app for small-scale fishers (MSSRF, INCOIS)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PFZ with GPS, ocean-state forecasts, danger-zone and disaster alerts, market prices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one-stop delivery works in practice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fisher reads and combines each screen himself; no source shown per number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5099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" y="5650992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2B21"/>
                </a:solidFill>
              </a:rPr>
              <a:t>The data and the delivery channels exist. Every system still leaves the fisherman to combine the pieces and make the call himself.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Literature survey II — the border and the 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17175" y="4297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429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LITERATURE 2 / 2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057400"/>
                <a:gridCol w="2606040"/>
                <a:gridCol w="2240280"/>
                <a:gridCol w="24076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for our problem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Vincent,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Maritime Affairs 16(2)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of the Palk Bay fishing conflict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analysis of fishing across the India–Sri Lanka IMBL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problem is recurring; argues for joint Indo–Sri Lankan governance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aid to the fisherman — the boundary stays invisible at sea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al.,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33 [6]  · 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model combined with a dense retriever over Wikipedia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evidence improves factual answers and provenance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Grounds in text, not live numbers; no guarantee every claim is supported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Niu et al.,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ACL 2024 [7]  ·  RAGTruth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corpus for retrieval-augmented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~18,000 responses from many LLMs, annotated word by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content persists even with the right evidence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is not enough — the safety call must stay out of the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 et al.,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TMLR [8]  ·  IndicTrans2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translation for all 22 scheduled languages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BPCC corpus of 230 M sentence pairs; IN22 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model to cover all 22 languages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is solved; no fisher system offers conversation in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5099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" y="5650992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2B21"/>
                </a:solidFill>
              </a:rPr>
              <a:t>Retrieval makes a trustworthy assistant possible; RAGTruth shows it is not sufficient. So our model never makes the safety call.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gap — comparative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591495" y="42976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91495" y="429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GAP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143000"/>
                <a:gridCol w="1097280"/>
                <a:gridCol w="1143000"/>
                <a:gridCol w="1143000"/>
                <a:gridCol w="1143000"/>
                <a:gridCol w="1417320"/>
                <a:gridCol w="158465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Small-boat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info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/ no-go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Kurup et al. [1]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(wind)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Sarangi et al. [2]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Thoondil — Saka et al. [3]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 Friend — Anabel et al. [4]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systems [6] [7]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IndicTrans2 [8]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4C0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Sagar Setu (proposed)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553712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</a:rPr>
              <a:t>✓ addressed  ·  ✗ not addressed  ·  — not described in the source.   Vincent [5] analyses the boundary problem but proposes no tool.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4937760"/>
            <a:ext cx="11185855" cy="1024128"/>
          </a:xfrm>
          <a:prstGeom prst="roundRect">
            <a:avLst>
              <a:gd name="adj" fmla="val 7143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" y="4937760"/>
            <a:ext cx="1060063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E2B21"/>
                </a:solidFill>
              </a:rPr>
              <a:t>We found no published system that lets a fisherman ask one question in his own language and receive a single operational decision — safety, fishing and border together — derived verifiably from official data rather than generated by a model.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Research gaps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180015" y="42976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80015" y="4297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GAP  →  OBJECTIVES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371600"/>
                <a:gridCol w="515081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identified in the literature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A5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 — weather, fishing zones and the border are separate studies and separate screens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[1]–[5]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all three behind one conversational interface that accepts a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Menu-driven apps — no system accepts a free-form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Local-language content exists, but not conversation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[4] [8]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question answering in Indian languages, Tamil and Hindi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grounds answers, yet hallucination persists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ledger per observation; a verifier that deletes any unsupported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G5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system keeps the safety call out of the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[6] [7]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unit-tested safety verdict, structurally outside the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G6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stops at the forecast or the zone, never the 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O6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the verdict itself with POD, FAR and CSI [10]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E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at sea is unreliable — Thoondil ships offline maps for this reason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O5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→ live → stale cache → snapshot, always declaring degradation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5099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" y="5650992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2E"/>
                </a:solidFill>
              </a:rPr>
              <a:t>O2 and O3 are the research contribution. The rest is engineering that makes them usable.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 I — architecture and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60075" y="429768"/>
            <a:ext cx="1028700" cy="292608"/>
          </a:xfrm>
          <a:prstGeom prst="roundRect">
            <a:avLst>
              <a:gd name="adj" fmla="val 50000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60075" y="429768"/>
            <a:ext cx="102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METHODOLOGY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69037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572000"/>
                <a:gridCol w="914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planner emits a typed task DAG (Pydantic schema, validated, one retry)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parallel superstep: ocean &amp; weather, geospatial &amp; boundary, analytics. Async fetch; cache → live (2 s) → stale → snapshot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rule engine: 7 parameters × 3 vessel classes; worst parameter wins, never an average; &lt; 50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writes the answer in the user's language from a structured brief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number extracted (Latin and Indic digits) and matched to the ledger; unsupported → stripped and regenerated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00600"/>
            <a:ext cx="6903720" cy="1261872"/>
          </a:xfrm>
          <a:prstGeom prst="roundRect">
            <a:avLst>
              <a:gd name="adj" fmla="val 5797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" y="4800600"/>
            <a:ext cx="6428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65A82"/>
                </a:solidFill>
              </a:rPr>
              <a:t>Evidence ledger.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3E4C"/>
                </a:solidFill>
              </a:rPr>
              <a:t>No tool returns a bare number. Every value is an Observation — value, unit, source, valid time, fetch time, distance to the query point, confidence, note. About 130 per question, shown to the user beneath every answer.</a:t>
            </a:r>
            <a:endParaRPr lang="en-US" sz="1250" dirty="0"/>
          </a:p>
        </p:txBody>
      </p:sp>
      <p:pic>
        <p:nvPicPr>
          <p:cNvPr id="8" name="Image 0" descr="C:\Users\Asus VivoBook\Downloads\Sagar Setu\docs\architecture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042416"/>
            <a:ext cx="4096512" cy="4919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 II — dataset and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974275" y="429768"/>
            <a:ext cx="1714500" cy="292608"/>
          </a:xfrm>
          <a:prstGeom prst="roundRect">
            <a:avLst>
              <a:gd name="adj" fmla="val 50000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74275" y="429768"/>
            <a:ext cx="1714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METHODOLOGY · DATASET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85855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3611880"/>
                <a:gridCol w="2148840"/>
                <a:gridCol w="1234440"/>
                <a:gridCol w="1767535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Marine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height, period, direction; swell; currents; SST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hourly, 7 d past + 8 d ahead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no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 — primary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Weather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Wind, gusts, visibility, thunderstorm code, CAPE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hourly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no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INCOIS PFZ (GeoServer WFS)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Potential Fishing Zone advisory lines, by sector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GeoJSON, daily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INCOIS static layers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PFZ sectors; 1,223 named landing centres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Committed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Marine Regions (VLIZ)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EEZ polygon; boundary lines incl. IMBL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Committed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NOAA CoastWatch (VIIRS)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Chlorophyll-a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ERDDAP grid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Marine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Chlorophyll-a (BGC_001_028); physics (PHY_001_024)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NetCDF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Account active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Cyclone track, lightning, district warnings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Blocked (401)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INCOIS ERDDAP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 and chlorophyll archive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NetCDF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Stale (SST ends 2011)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919472"/>
            <a:ext cx="5478628" cy="1188720"/>
          </a:xfrm>
          <a:prstGeom prst="roundRect">
            <a:avLst>
              <a:gd name="adj" fmla="val 6154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2376" y="4919472"/>
            <a:ext cx="50397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65A82"/>
                </a:solidFill>
              </a:rPr>
              <a:t>Derived datasets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3E4C"/>
                </a:solidFill>
              </a:rPr>
              <a:t>Frozen 7-day snapshot × 5 harbours + Gulf of Mannar (offline fallback). Evaluation set: 92 days × 5 harbours of archived forecasts.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0148" y="4919472"/>
            <a:ext cx="5478628" cy="1188720"/>
          </a:xfrm>
          <a:prstGeom prst="roundRect">
            <a:avLst>
              <a:gd name="adj" fmla="val 6154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29604" y="4919472"/>
            <a:ext cx="50397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65A82"/>
                </a:solidFill>
              </a:rPr>
              <a:t>Tools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3E4C"/>
                </a:solidFill>
              </a:rPr>
              <a:t>Python 3.11 · Pydantic · LangGraph · FastAPI + SSE · httpx (async) · xarray / netCDF4 · Shapely · pytest · React + Vite + MapLibre GL · Gemini (free tier)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Evaluation method and preliminary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65815" y="4297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865815" y="429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PROGRESS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526280" cy="2286000"/>
          </a:xfrm>
          <a:prstGeom prst="roundRect">
            <a:avLst>
              <a:gd name="adj" fmla="val 3200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" y="1335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Method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1719072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3E4C"/>
                </a:solidFill>
              </a:rPr>
              <a:t>Prediction: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E3E4C"/>
                </a:solidFill>
              </a:rPr>
              <a:t>verdict from the forecast available the evening before.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3E4C"/>
                </a:solidFill>
              </a:rPr>
              <a:t>Truth: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E3E4C"/>
                </a:solidFill>
              </a:rPr>
              <a:t>verdict from the same model's analysis of that morning.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3E4C"/>
                </a:solidFill>
              </a:rPr>
              <a:t>Sample: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E3E4C"/>
                </a:solidFill>
              </a:rPr>
              <a:t>92 mornings × 5 harbours = 460, 2026 monsoon.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3E4C"/>
                </a:solidFill>
              </a:rPr>
              <a:t>Metrics: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E3E4C"/>
                </a:solidFill>
              </a:rPr>
              <a:t>POD, FAR, CSI from the 2×2 contingency table [10].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57800" y="1188720"/>
            <a:ext cx="2021738" cy="2286000"/>
          </a:xfrm>
          <a:prstGeom prst="roundRect">
            <a:avLst>
              <a:gd name="adj" fmla="val 3618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58968" y="1371600"/>
            <a:ext cx="1619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93.9 %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458968" y="2176272"/>
            <a:ext cx="1619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2E"/>
                </a:solidFill>
              </a:rPr>
              <a:t>hit rate (POD)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58968" y="2523744"/>
            <a:ext cx="1619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</a:rPr>
              <a:t>dangerous mornings that were warned, one day ahead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62418" y="1188720"/>
            <a:ext cx="2021738" cy="2286000"/>
          </a:xfrm>
          <a:prstGeom prst="roundRect">
            <a:avLst>
              <a:gd name="adj" fmla="val 3618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63586" y="1371600"/>
            <a:ext cx="1619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3.1 %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663586" y="2176272"/>
            <a:ext cx="1619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2E"/>
                </a:solidFill>
              </a:rPr>
              <a:t>false-alarm ratio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663586" y="2523744"/>
            <a:ext cx="1619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</a:rPr>
              <a:t>warnings that wasted a good day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67037" y="1188720"/>
            <a:ext cx="2021738" cy="2286000"/>
          </a:xfrm>
          <a:prstGeom prst="roundRect">
            <a:avLst>
              <a:gd name="adj" fmla="val 3618"/>
            </a:avLst>
          </a:prstGeom>
          <a:solidFill>
            <a:srgbClr val="EDF2F6"/>
          </a:solidFill>
          <a:ln w="12700">
            <a:solidFill>
              <a:srgbClr val="ED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8205" y="1371600"/>
            <a:ext cx="16194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868205" y="2176272"/>
            <a:ext cx="16194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E2E"/>
                </a:solidFill>
              </a:rPr>
              <a:t>misses graded GO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868205" y="2523744"/>
            <a:ext cx="1619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A58"/>
                </a:solidFill>
              </a:rPr>
              <a:t>both misses were graded CAUTION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39312"/>
          <a:ext cx="1118585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240280"/>
                <a:gridCol w="1691640"/>
                <a:gridCol w="1463040"/>
                <a:gridCol w="1828800"/>
                <a:gridCol w="1996135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Warned (of 33)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(POD)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False-alarm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CSI (overall skill)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 ahead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of 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3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 ahead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of 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 ahead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of 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E3E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65.2 %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02920" y="49377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2E"/>
                </a:solidFill>
              </a:rPr>
              <a:t>Only 33 dangerous mornings: one morning ≈ 3 points of hit rate. </a:t>
            </a:r>
            <a:pPr indent="0" marL="0">
              <a:buNone/>
            </a:pPr>
            <a:r>
              <a:rPr lang="en-US" sz="1150" dirty="0">
                <a:solidFill>
                  <a:srgbClr val="3A4A58"/>
                </a:solidFill>
              </a:rPr>
              <a:t>The 2-day “rise” is one extra catch, bought with 6 more false alarms.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5376672"/>
            <a:ext cx="11185855" cy="420624"/>
          </a:xfrm>
          <a:prstGeom prst="roundRect">
            <a:avLst>
              <a:gd name="adj" fmla="val 17391"/>
            </a:avLst>
          </a:prstGeom>
          <a:solidFill>
            <a:srgbClr val="FBEDEB"/>
          </a:solidFill>
          <a:ln w="12700">
            <a:solidFill>
              <a:srgbClr val="FBED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" y="5376672"/>
            <a:ext cx="10673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2B21"/>
                </a:solidFill>
              </a:rPr>
              <a:t>Limitation: truth is model analysis, not a buoy measurement — these figures are an upper bound on real skill.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5870448"/>
            <a:ext cx="111858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2E"/>
                </a:solidFill>
              </a:rPr>
              <a:t>Status: </a:t>
            </a:r>
            <a:pPr indent="0" marL="0">
              <a:buNone/>
            </a:pPr>
            <a:r>
              <a:rPr lang="en-US" sz="1300" dirty="0">
                <a:solidFill>
                  <a:srgbClr val="2E3E4C"/>
                </a:solidFill>
              </a:rPr>
              <a:t>phases 1–4 of 6 complete · 115 unit tests · ₹0 cost.   </a:t>
            </a:r>
            <a:pPr indent="0" marL="0">
              <a:buNone/>
            </a:pPr>
            <a:r>
              <a:rPr lang="en-US" sz="1300" b="1" dirty="0">
                <a:solidFill>
                  <a:srgbClr val="0F1E2E"/>
                </a:solidFill>
              </a:rPr>
              <a:t>Needed: </a:t>
            </a:r>
            <a:pPr indent="0" marL="0">
              <a:buNone/>
            </a:pPr>
            <a:r>
              <a:rPr lang="en-US" sz="1300" dirty="0">
                <a:solidFill>
                  <a:srgbClr val="2E3E4C"/>
                </a:solidFill>
              </a:rPr>
              <a:t>IMD API key (college letter) · INCOIS small-craft criteria · INCOIS/NIOT buoy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07008"/>
            <a:ext cx="543290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65A82"/>
                </a:solidFill>
              </a:rPr>
              <a:t>Literature reviewed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[1]  P. H. Kurup, S. Abhilash, S. Mavath, V. K. Mini, N. Alamirew and M. Martin, “Validation of localised coastal wind forecasts for artisan fishers of southwestern India,” Weather, 79(7), 231–241, 2024.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[2]  R. K. Sarangi, M. Jishad, R. Sharma et al., “Multiple ocean parameter-based potential fishing zone (PFZ) location generation and validation in the Western Bay of Bengal,” Environ. Monit. Assess., 196, 98, 2024.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[3]  S. K. Saka, A. E. Mathew, V. Ganesh et al., “A Web-GIS and mobile-based application for a safe ocean for fishers,” Marine Technology Society Journal, 55(3), 50–57, 2021.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[4]  N. J. Anabel, S. Velvizhi and D. Suvitha, “Fisher Friend Mobile Application: a decision support system for small scale fishers in India,” CSI Transactions on ICT, 6(3–4), 257–267, 2018.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[5]  S. Vincent, “Palk Bay fishing problem requires Indo-Sri Lankan joint-governance,” Maritime Affairs, 16(2), 71–88, 2020.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255868" y="1508760"/>
            <a:ext cx="5432908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[6]  P. Lewis, E. Perez, A. Piktus et al., “Retrieval-augmented generation for knowledge-intensive NLP tasks,” NeurIPS 33, 9459–9474, 2020.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[7]  C. Niu, Y. Wu, J. Zhu et al., “RAGTruth: A hallucination corpus for developing trustworthy retrieval-augmented language models,” ACL 2024, 10862–10878.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[8]  J. Gala, P. A. Chitale, R. AK et al., “IndicTrans2: Towards high-quality and accessible machine translation models for all 22 scheduled Indian languages,” TMLR, 2023.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65A82"/>
                </a:solidFill>
              </a:rPr>
              <a:t>Methodology references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[9]  INCOIS, “Small Vessel Advisory and Forecast Services (SVAS),” incois.gov.in/portal/osf/SVA_overview.jsp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E3E4C"/>
                </a:solidFill>
              </a:rPr>
              <a:t>[10]  I. T. Jolliffe and D. B. Stephenson, Forecast Verification: A Practitioner's Guide in Atmospheric Science, 2nd ed., Wiley-Blackwell, 2012.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gar Setu">
  <a:themeElements>
    <a:clrScheme name="Sagar Setu">
      <a:dk1>
        <a:srgbClr val="0F1E2E"/>
      </a:dk1>
      <a:lt1>
        <a:srgbClr val="FFFFFF"/>
      </a:lt1>
      <a:dk2>
        <a:srgbClr val="16304A"/>
      </a:dk2>
      <a:lt2>
        <a:srgbClr val="EDF2F6"/>
      </a:lt2>
      <a:accent1>
        <a:srgbClr val="065A82"/>
      </a:accent1>
      <a:accent2>
        <a:srgbClr val="1C7293"/>
      </a:accent2>
      <a:accent3>
        <a:srgbClr val="B03A2E"/>
      </a:accent3>
      <a:accent4>
        <a:srgbClr val="1B8A5A"/>
      </a:accent4>
      <a:accent5>
        <a:srgbClr val="D98324"/>
      </a:accent5>
      <a:accent6>
        <a:srgbClr val="6B7C8C"/>
      </a:accent6>
      <a:hlink>
        <a:srgbClr val="1C7293"/>
      </a:hlink>
      <a:folHlink>
        <a:srgbClr val="6B7C8C"/>
      </a:folHlink>
    </a:clrScheme>
    <a:fontScheme name="Sagar Set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Sagar Setu — Mid-Term Review</dc:title>
  <dc:subject>PptxGenJS Presentation</dc:subject>
  <dc:creator>Harshvardhan Singh</dc:creator>
  <cp:lastModifiedBy>Harshvardhan Singh</cp:lastModifiedBy>
  <cp:revision>1</cp:revision>
  <dcterms:created xsi:type="dcterms:W3CDTF">2026-10-15T21:10:50Z</dcterms:created>
  <dcterms:modified xsi:type="dcterms:W3CDTF">2026-10-15T21:10:50Z</dcterms:modified>
</cp:coreProperties>
</file>